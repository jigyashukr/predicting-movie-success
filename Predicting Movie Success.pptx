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2"/>
  </p:notesMasterIdLst>
  <p:sldIdLst>
    <p:sldId id="256" r:id="rId2"/>
    <p:sldId id="714" r:id="rId3"/>
    <p:sldId id="674" r:id="rId4"/>
    <p:sldId id="712" r:id="rId5"/>
    <p:sldId id="713" r:id="rId6"/>
    <p:sldId id="676" r:id="rId7"/>
    <p:sldId id="715" r:id="rId8"/>
    <p:sldId id="716" r:id="rId9"/>
    <p:sldId id="711" r:id="rId10"/>
    <p:sldId id="30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1A3E"/>
    <a:srgbClr val="1D1B58"/>
    <a:srgbClr val="1C1A55"/>
    <a:srgbClr val="0A87B1"/>
    <a:srgbClr val="333F50"/>
    <a:srgbClr val="8497B0"/>
    <a:srgbClr val="8FAADC"/>
    <a:srgbClr val="2F5597"/>
    <a:srgbClr val="626CC7"/>
    <a:srgbClr val="323B8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71" autoAdjust="0"/>
    <p:restoredTop sz="93447" autoAdjust="0"/>
  </p:normalViewPr>
  <p:slideViewPr>
    <p:cSldViewPr snapToGrid="0">
      <p:cViewPr varScale="1">
        <p:scale>
          <a:sx n="82" d="100"/>
          <a:sy n="82" d="100"/>
        </p:scale>
        <p:origin x="610" y="48"/>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01-12-2025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6</a:t>
            </a:fld>
            <a:endParaRPr lang="en-IN" dirty="0"/>
          </a:p>
        </p:txBody>
      </p:sp>
    </p:spTree>
    <p:extLst>
      <p:ext uri="{BB962C8B-B14F-4D97-AF65-F5344CB8AC3E}">
        <p14:creationId xmlns:p14="http://schemas.microsoft.com/office/powerpoint/2010/main" val="17978836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214605" y="3156076"/>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latin typeface="Merriweather" panose="00000800000000000000" pitchFamily="2" charset="0"/>
              </a:rPr>
              <a:t>Predicting Movie Success</a:t>
            </a:r>
          </a:p>
        </p:txBody>
      </p:sp>
      <p:sp>
        <p:nvSpPr>
          <p:cNvPr id="4" name="TextBox 3">
            <a:extLst>
              <a:ext uri="{FF2B5EF4-FFF2-40B4-BE49-F238E27FC236}">
                <a16:creationId xmlns:a16="http://schemas.microsoft.com/office/drawing/2014/main" id="{0546765E-1E6B-D810-85A7-FF16A1FF68C9}"/>
              </a:ext>
            </a:extLst>
          </p:cNvPr>
          <p:cNvSpPr txBox="1"/>
          <p:nvPr/>
        </p:nvSpPr>
        <p:spPr>
          <a:xfrm>
            <a:off x="9461239" y="6457890"/>
            <a:ext cx="3741577" cy="400110"/>
          </a:xfrm>
          <a:prstGeom prst="rect">
            <a:avLst/>
          </a:prstGeom>
          <a:noFill/>
        </p:spPr>
        <p:txBody>
          <a:bodyPr wrap="square" rtlCol="0">
            <a:spAutoFit/>
          </a:bodyPr>
          <a:lstStyle/>
          <a:p>
            <a:r>
              <a:rPr lang="en-IN" sz="2000" dirty="0">
                <a:solidFill>
                  <a:schemeClr val="accent5">
                    <a:lumMod val="60000"/>
                    <a:lumOff val="40000"/>
                  </a:schemeClr>
                </a:solidFill>
              </a:rPr>
              <a:t>Made By Jigyashu Kumar</a:t>
            </a:r>
          </a:p>
        </p:txBody>
      </p:sp>
      <p:sp>
        <p:nvSpPr>
          <p:cNvPr id="5" name="TextBox 4">
            <a:extLst>
              <a:ext uri="{FF2B5EF4-FFF2-40B4-BE49-F238E27FC236}">
                <a16:creationId xmlns:a16="http://schemas.microsoft.com/office/drawing/2014/main" id="{CBB7359B-72FB-867A-A74F-3D06187489E3}"/>
              </a:ext>
            </a:extLst>
          </p:cNvPr>
          <p:cNvSpPr txBox="1"/>
          <p:nvPr/>
        </p:nvSpPr>
        <p:spPr>
          <a:xfrm>
            <a:off x="3104015" y="3967598"/>
            <a:ext cx="9630383" cy="369332"/>
          </a:xfrm>
          <a:prstGeom prst="rect">
            <a:avLst/>
          </a:prstGeom>
          <a:noFill/>
        </p:spPr>
        <p:txBody>
          <a:bodyPr wrap="square" rtlCol="0">
            <a:spAutoFit/>
          </a:bodyPr>
          <a:lstStyle/>
          <a:p>
            <a:r>
              <a:rPr lang="en-US" dirty="0">
                <a:solidFill>
                  <a:schemeClr val="accent5">
                    <a:lumMod val="60000"/>
                    <a:lumOff val="40000"/>
                  </a:schemeClr>
                </a:solidFill>
              </a:rPr>
              <a:t>“A data-driven approach to analyze and classify movie performance.”</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a:xfrm>
            <a:off x="548255" y="569504"/>
            <a:ext cx="10834234" cy="612775"/>
          </a:xfrm>
        </p:spPr>
        <p:txBody>
          <a:bodyPr>
            <a:normAutofit/>
          </a:bodyPr>
          <a:lstStyle/>
          <a:p>
            <a:r>
              <a:rPr lang="en-US" sz="3600" dirty="0">
                <a:latin typeface="Leelawadee" panose="020B0502040204020203" pitchFamily="34" charset="-34"/>
                <a:ea typeface="Namdhinggo" panose="02000000000000000000" pitchFamily="2" charset="0"/>
                <a:cs typeface="Leelawadee" panose="020B0502040204020203" pitchFamily="34" charset="-34"/>
              </a:rPr>
              <a:t>OBJECTIVE</a:t>
            </a:r>
            <a:endParaRPr lang="en-IN" sz="3600" dirty="0">
              <a:latin typeface="Leelawadee" panose="020B0502040204020203" pitchFamily="34" charset="-34"/>
              <a:ea typeface="Namdhinggo" panose="02000000000000000000" pitchFamily="2" charset="0"/>
              <a:cs typeface="Leelawadee" panose="020B0502040204020203" pitchFamily="34" charset="-34"/>
            </a:endParaRPr>
          </a:p>
        </p:txBody>
      </p:sp>
      <p:sp>
        <p:nvSpPr>
          <p:cNvPr id="5" name="Content Placeholder 4">
            <a:extLst>
              <a:ext uri="{FF2B5EF4-FFF2-40B4-BE49-F238E27FC236}">
                <a16:creationId xmlns:a16="http://schemas.microsoft.com/office/drawing/2014/main" id="{A0A0CBDF-9C35-4805-7B4A-6F59F9ECA835}"/>
              </a:ext>
            </a:extLst>
          </p:cNvPr>
          <p:cNvSpPr txBox="1">
            <a:spLocks noGrp="1"/>
          </p:cNvSpPr>
          <p:nvPr>
            <p:ph idx="1"/>
          </p:nvPr>
        </p:nvSpPr>
        <p:spPr>
          <a:xfrm>
            <a:off x="716299" y="1389316"/>
            <a:ext cx="11261691" cy="2932085"/>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latin typeface="Calibri" panose="020F0502020204030204" pitchFamily="34" charset="0"/>
                <a:ea typeface="Calibri" panose="020F0502020204030204" pitchFamily="34" charset="0"/>
                <a:cs typeface="Calibri" panose="020F0502020204030204" pitchFamily="34" charset="0"/>
              </a:rPr>
              <a:t>To build a model that can predict box office success for a movie before release.</a:t>
            </a:r>
          </a:p>
          <a:p>
            <a:r>
              <a:rPr lang="en-US" dirty="0">
                <a:latin typeface="Calibri" panose="020F0502020204030204" pitchFamily="34" charset="0"/>
                <a:ea typeface="Calibri" panose="020F0502020204030204" pitchFamily="34" charset="0"/>
                <a:cs typeface="Calibri" panose="020F0502020204030204" pitchFamily="34" charset="0"/>
              </a:rPr>
              <a:t>Classify movies into </a:t>
            </a:r>
            <a:r>
              <a:rPr lang="en-US" b="1" dirty="0">
                <a:latin typeface="Calibri" panose="020F0502020204030204" pitchFamily="34" charset="0"/>
                <a:ea typeface="Calibri" panose="020F0502020204030204" pitchFamily="34" charset="0"/>
                <a:cs typeface="Calibri" panose="020F0502020204030204" pitchFamily="34" charset="0"/>
              </a:rPr>
              <a:t>Hit</a:t>
            </a:r>
            <a:r>
              <a:rPr lang="en-US" dirty="0">
                <a:latin typeface="Calibri" panose="020F0502020204030204" pitchFamily="34" charset="0"/>
                <a:ea typeface="Calibri" panose="020F0502020204030204" pitchFamily="34" charset="0"/>
                <a:cs typeface="Calibri" panose="020F0502020204030204" pitchFamily="34" charset="0"/>
              </a:rPr>
              <a:t>, </a:t>
            </a:r>
            <a:r>
              <a:rPr lang="en-US" b="1" dirty="0">
                <a:latin typeface="Calibri" panose="020F0502020204030204" pitchFamily="34" charset="0"/>
                <a:ea typeface="Calibri" panose="020F0502020204030204" pitchFamily="34" charset="0"/>
                <a:cs typeface="Calibri" panose="020F0502020204030204" pitchFamily="34" charset="0"/>
              </a:rPr>
              <a:t>Average</a:t>
            </a:r>
            <a:r>
              <a:rPr lang="en-US" dirty="0">
                <a:latin typeface="Calibri" panose="020F0502020204030204" pitchFamily="34" charset="0"/>
                <a:ea typeface="Calibri" panose="020F0502020204030204" pitchFamily="34" charset="0"/>
                <a:cs typeface="Calibri" panose="020F0502020204030204" pitchFamily="34" charset="0"/>
              </a:rPr>
              <a:t>, or </a:t>
            </a:r>
            <a:r>
              <a:rPr lang="en-US" b="1" dirty="0">
                <a:latin typeface="Calibri" panose="020F0502020204030204" pitchFamily="34" charset="0"/>
                <a:ea typeface="Calibri" panose="020F0502020204030204" pitchFamily="34" charset="0"/>
                <a:cs typeface="Calibri" panose="020F0502020204030204" pitchFamily="34" charset="0"/>
              </a:rPr>
              <a:t>Flop</a:t>
            </a:r>
            <a:r>
              <a:rPr lang="en-US" dirty="0">
                <a:latin typeface="Calibri" panose="020F0502020204030204" pitchFamily="34" charset="0"/>
                <a:ea typeface="Calibri" panose="020F0502020204030204" pitchFamily="34" charset="0"/>
                <a:cs typeface="Calibri" panose="020F0502020204030204" pitchFamily="34" charset="0"/>
              </a:rPr>
              <a:t> categories.</a:t>
            </a:r>
          </a:p>
          <a:p>
            <a:r>
              <a:rPr lang="en-US" dirty="0">
                <a:latin typeface="Calibri" panose="020F0502020204030204" pitchFamily="34" charset="0"/>
                <a:ea typeface="Calibri" panose="020F0502020204030204" pitchFamily="34" charset="0"/>
                <a:cs typeface="Calibri" panose="020F0502020204030204" pitchFamily="34" charset="0"/>
              </a:rPr>
              <a:t>To identify which factors contribute most to movie success.</a:t>
            </a:r>
          </a:p>
          <a:p>
            <a:r>
              <a:rPr lang="en-US" dirty="0">
                <a:latin typeface="Calibri" panose="020F0502020204030204" pitchFamily="34" charset="0"/>
                <a:ea typeface="Calibri" panose="020F0502020204030204" pitchFamily="34" charset="0"/>
                <a:cs typeface="Calibri" panose="020F0502020204030204" pitchFamily="34" charset="0"/>
              </a:rPr>
              <a:t>To analyze trends that studios can use for better planning.</a:t>
            </a:r>
          </a:p>
          <a:p>
            <a:r>
              <a:rPr lang="en-US" dirty="0">
                <a:latin typeface="Calibri" panose="020F0502020204030204" pitchFamily="34" charset="0"/>
                <a:ea typeface="Calibri" panose="020F0502020204030204" pitchFamily="34" charset="0"/>
                <a:cs typeface="Calibri" panose="020F0502020204030204" pitchFamily="34" charset="0"/>
              </a:rPr>
              <a:t>Use EDA to discover patterns and insights in movie performance.</a:t>
            </a:r>
            <a:endParaRPr lang="en-IN" dirty="0">
              <a:latin typeface="Calibri" panose="020F0502020204030204" pitchFamily="34" charset="0"/>
              <a:ea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397A9B34-FFC2-7F79-C386-52F5A8CD2CB0}"/>
              </a:ext>
            </a:extLst>
          </p:cNvPr>
          <p:cNvPicPr>
            <a:picLocks noChangeAspect="1"/>
          </p:cNvPicPr>
          <p:nvPr/>
        </p:nvPicPr>
        <p:blipFill>
          <a:blip r:embed="rId2">
            <a:extLst>
              <a:ext uri="{28A0092B-C50C-407E-A947-70E740481C1C}">
                <a14:useLocalDpi xmlns:a14="http://schemas.microsoft.com/office/drawing/2010/main" val="0"/>
              </a:ext>
            </a:extLst>
          </a:blip>
          <a:srcRect l="3501" t="2667" r="4626" b="66222"/>
          <a:stretch>
            <a:fillRect/>
          </a:stretch>
        </p:blipFill>
        <p:spPr>
          <a:xfrm>
            <a:off x="214010" y="4706376"/>
            <a:ext cx="6449438" cy="1228464"/>
          </a:xfrm>
          <a:prstGeom prst="rect">
            <a:avLst/>
          </a:prstGeom>
        </p:spPr>
      </p:pic>
      <p:pic>
        <p:nvPicPr>
          <p:cNvPr id="13" name="Picture 12">
            <a:extLst>
              <a:ext uri="{FF2B5EF4-FFF2-40B4-BE49-F238E27FC236}">
                <a16:creationId xmlns:a16="http://schemas.microsoft.com/office/drawing/2014/main" id="{07E7B10C-6C86-45EA-6CDC-F0C1AE374F73}"/>
              </a:ext>
            </a:extLst>
          </p:cNvPr>
          <p:cNvPicPr>
            <a:picLocks noChangeAspect="1"/>
          </p:cNvPicPr>
          <p:nvPr/>
        </p:nvPicPr>
        <p:blipFill>
          <a:blip r:embed="rId2">
            <a:extLst>
              <a:ext uri="{28A0092B-C50C-407E-A947-70E740481C1C}">
                <a14:useLocalDpi xmlns:a14="http://schemas.microsoft.com/office/drawing/2010/main" val="0"/>
              </a:ext>
            </a:extLst>
          </a:blip>
          <a:srcRect l="3431" t="33192" r="21649" b="34326"/>
          <a:stretch>
            <a:fillRect/>
          </a:stretch>
        </p:blipFill>
        <p:spPr>
          <a:xfrm>
            <a:off x="6824982" y="4725410"/>
            <a:ext cx="5153008" cy="1256698"/>
          </a:xfrm>
          <a:prstGeom prst="rect">
            <a:avLst/>
          </a:prstGeom>
        </p:spPr>
      </p:pic>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normAutofit/>
          </a:bodyPr>
          <a:lstStyle/>
          <a:p>
            <a:r>
              <a:rPr lang="en-US" sz="3600" dirty="0">
                <a:latin typeface="Leelawadee" panose="020B0502040204020203" pitchFamily="34" charset="-34"/>
                <a:cs typeface="Leelawadee" panose="020B0502040204020203" pitchFamily="34" charset="-34"/>
              </a:rPr>
              <a:t>D</a:t>
            </a:r>
            <a:r>
              <a:rPr lang="en-IN" sz="3600" dirty="0">
                <a:latin typeface="Leelawadee" panose="020B0502040204020203" pitchFamily="34" charset="-34"/>
                <a:cs typeface="Leelawadee" panose="020B0502040204020203" pitchFamily="34" charset="-34"/>
              </a:rPr>
              <a:t>ATASET OVERVIEW</a:t>
            </a:r>
            <a:endParaRPr lang="en-IN" sz="3600"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507124"/>
            <a:ext cx="10667140" cy="1730598"/>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marL="0" lvl="0" indent="0">
              <a:buNone/>
            </a:pPr>
            <a:r>
              <a:rPr lang="en-IN" b="1" dirty="0"/>
              <a:t>Dataset Description</a:t>
            </a:r>
            <a:r>
              <a:rPr lang="en-US" b="1" dirty="0"/>
              <a:t> </a:t>
            </a:r>
          </a:p>
          <a:p>
            <a:pPr lvl="1"/>
            <a:r>
              <a:rPr lang="en-US" dirty="0"/>
              <a:t>The dataset contains movie-related features such as </a:t>
            </a:r>
            <a:r>
              <a:rPr lang="en-IN" dirty="0"/>
              <a:t>Duration ,Language, Actor name, Gross, Budget, Director Name, Genre and Rating.</a:t>
            </a:r>
          </a:p>
          <a:p>
            <a:pPr lvl="1"/>
            <a:r>
              <a:rPr lang="en-US" dirty="0"/>
              <a:t>It has initially 5043 number of movies with 28 different features.</a:t>
            </a:r>
          </a:p>
          <a:p>
            <a:pPr marL="914400" lvl="2" indent="0">
              <a:buNone/>
            </a:pPr>
            <a:endParaRPr lang="en-US" dirty="0"/>
          </a:p>
        </p:txBody>
      </p:sp>
      <p:sp>
        <p:nvSpPr>
          <p:cNvPr id="8" name="TextBox 7">
            <a:extLst>
              <a:ext uri="{FF2B5EF4-FFF2-40B4-BE49-F238E27FC236}">
                <a16:creationId xmlns:a16="http://schemas.microsoft.com/office/drawing/2014/main" id="{84587419-EE1E-8190-DFAA-F043E0816564}"/>
              </a:ext>
            </a:extLst>
          </p:cNvPr>
          <p:cNvSpPr txBox="1"/>
          <p:nvPr/>
        </p:nvSpPr>
        <p:spPr>
          <a:xfrm>
            <a:off x="214604" y="3340358"/>
            <a:ext cx="11131420" cy="2369880"/>
          </a:xfrm>
          <a:prstGeom prst="rect">
            <a:avLst/>
          </a:prstGeom>
          <a:noFill/>
        </p:spPr>
        <p:txBody>
          <a:bodyPr wrap="square" rtlCol="0">
            <a:spAutoFit/>
          </a:bodyPr>
          <a:lstStyle/>
          <a:p>
            <a:pPr lvl="1"/>
            <a:r>
              <a:rPr lang="en-IN" sz="2800" b="1" dirty="0"/>
              <a:t>Preprocessing Steps</a:t>
            </a:r>
          </a:p>
          <a:p>
            <a:pPr marL="1371600" lvl="2" indent="-457200">
              <a:buFont typeface="Arial" panose="020B0604020202020204" pitchFamily="34" charset="0"/>
              <a:buChar char="•"/>
            </a:pPr>
            <a:r>
              <a:rPr lang="en-US" sz="2400" dirty="0"/>
              <a:t>Handled missing values for gross and budget metrics.</a:t>
            </a:r>
          </a:p>
          <a:p>
            <a:pPr marL="1371600" lvl="2" indent="-457200">
              <a:buFont typeface="Arial" panose="020B0604020202020204" pitchFamily="34" charset="0"/>
              <a:buChar char="•"/>
            </a:pPr>
            <a:r>
              <a:rPr lang="en-US" sz="2400" dirty="0"/>
              <a:t>Sorted out movies according to their genre types.</a:t>
            </a:r>
          </a:p>
          <a:p>
            <a:pPr marL="1371600" lvl="2" indent="-457200">
              <a:buFont typeface="Arial" panose="020B0604020202020204" pitchFamily="34" charset="0"/>
              <a:buChar char="•"/>
            </a:pPr>
            <a:r>
              <a:rPr lang="en-US" sz="2400" dirty="0"/>
              <a:t>Used Z score to drop the outliners to get</a:t>
            </a:r>
            <a:r>
              <a:rPr lang="en-IN" sz="2400" dirty="0"/>
              <a:t> 3630 number of movies as cleaned data points.</a:t>
            </a:r>
          </a:p>
          <a:p>
            <a:pPr marL="1371600" lvl="2" indent="-457200">
              <a:buFont typeface="Arial" panose="020B0604020202020204" pitchFamily="34" charset="0"/>
              <a:buChar char="•"/>
            </a:pPr>
            <a:r>
              <a:rPr lang="en-US" sz="2400" dirty="0"/>
              <a:t>Created IMDB score-based labels (Hit / Average / Flop).</a:t>
            </a:r>
            <a:endParaRPr lang="en-IN" sz="2400" dirty="0"/>
          </a:p>
        </p:txBody>
      </p:sp>
    </p:spTree>
    <p:extLst>
      <p:ext uri="{BB962C8B-B14F-4D97-AF65-F5344CB8AC3E}">
        <p14:creationId xmlns:p14="http://schemas.microsoft.com/office/powerpoint/2010/main" val="2272459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A923FD-EE06-48F2-482E-88F38D200251}"/>
              </a:ext>
            </a:extLst>
          </p:cNvPr>
          <p:cNvSpPr>
            <a:spLocks noGrp="1"/>
          </p:cNvSpPr>
          <p:nvPr>
            <p:ph type="title"/>
          </p:nvPr>
        </p:nvSpPr>
        <p:spPr>
          <a:xfrm>
            <a:off x="4361963" y="525559"/>
            <a:ext cx="7057847" cy="612775"/>
          </a:xfrm>
        </p:spPr>
        <p:txBody>
          <a:bodyPr>
            <a:normAutofit/>
          </a:bodyPr>
          <a:lstStyle/>
          <a:p>
            <a:r>
              <a:rPr lang="en-IN" sz="3200" u="sng" dirty="0">
                <a:solidFill>
                  <a:srgbClr val="C00000"/>
                </a:solidFill>
              </a:rPr>
              <a:t>Labelling Criteria</a:t>
            </a:r>
          </a:p>
        </p:txBody>
      </p:sp>
      <p:sp>
        <p:nvSpPr>
          <p:cNvPr id="2" name="Oval 1">
            <a:extLst>
              <a:ext uri="{FF2B5EF4-FFF2-40B4-BE49-F238E27FC236}">
                <a16:creationId xmlns:a16="http://schemas.microsoft.com/office/drawing/2014/main" id="{6FD08FCB-7D5B-3B6C-BD05-0A2E78FCE2E8}"/>
              </a:ext>
            </a:extLst>
          </p:cNvPr>
          <p:cNvSpPr/>
          <p:nvPr/>
        </p:nvSpPr>
        <p:spPr>
          <a:xfrm>
            <a:off x="363894" y="2108718"/>
            <a:ext cx="2817845" cy="2649894"/>
          </a:xfrm>
          <a:prstGeom prst="ellipse">
            <a:avLst/>
          </a:prstGeom>
          <a:solidFill>
            <a:srgbClr val="1D1B5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EFCF9DB1-02FB-23B9-D3F8-8F92EB2881A7}"/>
              </a:ext>
            </a:extLst>
          </p:cNvPr>
          <p:cNvSpPr txBox="1"/>
          <p:nvPr/>
        </p:nvSpPr>
        <p:spPr>
          <a:xfrm>
            <a:off x="363894" y="2006082"/>
            <a:ext cx="3060441" cy="2308324"/>
          </a:xfrm>
          <a:prstGeom prst="rect">
            <a:avLst/>
          </a:prstGeom>
          <a:noFill/>
        </p:spPr>
        <p:txBody>
          <a:bodyPr wrap="square" rtlCol="0">
            <a:spAutoFit/>
          </a:bodyPr>
          <a:lstStyle/>
          <a:p>
            <a:r>
              <a:rPr lang="en-US" sz="3600" dirty="0">
                <a:solidFill>
                  <a:schemeClr val="bg1"/>
                </a:solidFill>
                <a:latin typeface="Leelawadee" panose="020B0502040204020203" pitchFamily="34" charset="-34"/>
                <a:cs typeface="Leelawadee" panose="020B0502040204020203" pitchFamily="34" charset="-34"/>
              </a:rPr>
              <a:t>Creating Hit / Average / Flop Classification</a:t>
            </a:r>
            <a:endParaRPr lang="en-IN" sz="3600" dirty="0">
              <a:solidFill>
                <a:schemeClr val="bg1"/>
              </a:solidFill>
              <a:latin typeface="Leelawadee" panose="020B0502040204020203" pitchFamily="34" charset="-34"/>
              <a:cs typeface="Leelawadee" panose="020B0502040204020203" pitchFamily="34" charset="-34"/>
            </a:endParaRPr>
          </a:p>
        </p:txBody>
      </p:sp>
      <p:sp>
        <p:nvSpPr>
          <p:cNvPr id="6" name="Rectangle 1">
            <a:extLst>
              <a:ext uri="{FF2B5EF4-FFF2-40B4-BE49-F238E27FC236}">
                <a16:creationId xmlns:a16="http://schemas.microsoft.com/office/drawing/2014/main" id="{02FEAA20-8DAB-19EF-23D9-5EDE3007967E}"/>
              </a:ext>
            </a:extLst>
          </p:cNvPr>
          <p:cNvSpPr>
            <a:spLocks noGrp="1" noChangeArrowheads="1"/>
          </p:cNvSpPr>
          <p:nvPr>
            <p:ph idx="1"/>
          </p:nvPr>
        </p:nvSpPr>
        <p:spPr bwMode="auto">
          <a:xfrm>
            <a:off x="4361963" y="1210626"/>
            <a:ext cx="6424225"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FontTx/>
              <a:buChar char="•"/>
            </a:pPr>
            <a:r>
              <a:rPr kumimoji="0" lang="en-US" altLang="en-US" sz="2200" b="1" i="0" u="none" strike="noStrike" cap="none" normalizeH="0" baseline="0" dirty="0">
                <a:ln>
                  <a:noFill/>
                </a:ln>
                <a:solidFill>
                  <a:schemeClr val="tx1"/>
                </a:solidFill>
                <a:effectLst/>
                <a:latin typeface="Arial" panose="020B0604020202020204" pitchFamily="34" charset="0"/>
              </a:rPr>
              <a:t> </a:t>
            </a:r>
            <a:r>
              <a:rPr lang="en-US" altLang="en-US" sz="2200" b="1" dirty="0">
                <a:solidFill>
                  <a:schemeClr val="tx1"/>
                </a:solidFill>
                <a:latin typeface="Arial" panose="020B0604020202020204" pitchFamily="34" charset="0"/>
              </a:rPr>
              <a:t>Flop</a:t>
            </a:r>
            <a:r>
              <a:rPr kumimoji="0" lang="en-US" altLang="en-US" sz="2200" b="1" i="0" u="none" strike="noStrike" cap="none" normalizeH="0" baseline="0" dirty="0">
                <a:ln>
                  <a:noFill/>
                </a:ln>
                <a:solidFill>
                  <a:schemeClr val="tx1"/>
                </a:solidFill>
                <a:effectLst/>
                <a:latin typeface="Arial" panose="020B0604020202020204" pitchFamily="34" charset="0"/>
              </a:rPr>
              <a:t>:</a:t>
            </a:r>
            <a:r>
              <a:rPr kumimoji="0" lang="en-US" altLang="en-US" sz="2200" b="0" i="0" u="none" strike="noStrike" cap="none" normalizeH="0" baseline="0" dirty="0">
                <a:ln>
                  <a:noFill/>
                </a:ln>
                <a:solidFill>
                  <a:schemeClr val="tx1"/>
                </a:solidFill>
                <a:effectLst/>
                <a:latin typeface="Arial" panose="020B0604020202020204" pitchFamily="34" charset="0"/>
              </a:rPr>
              <a:t> IMDB score ranges 1-3</a:t>
            </a:r>
          </a:p>
          <a:p>
            <a:pPr marL="0" indent="0" eaLnBrk="0" fontAlgn="base" hangingPunct="0">
              <a:lnSpc>
                <a:spcPct val="100000"/>
              </a:lnSpc>
              <a:spcBef>
                <a:spcPct val="0"/>
              </a:spcBef>
              <a:spcAft>
                <a:spcPct val="0"/>
              </a:spcAft>
              <a:buFontTx/>
              <a:buChar char="•"/>
            </a:pPr>
            <a:r>
              <a:rPr kumimoji="0" lang="en-US" altLang="en-US" sz="2200" b="1" i="0" u="none" strike="noStrike" cap="none" normalizeH="0" baseline="0" dirty="0">
                <a:ln>
                  <a:noFill/>
                </a:ln>
                <a:solidFill>
                  <a:schemeClr val="tx1"/>
                </a:solidFill>
                <a:effectLst/>
                <a:latin typeface="Arial" panose="020B0604020202020204" pitchFamily="34" charset="0"/>
              </a:rPr>
              <a:t> Average:</a:t>
            </a:r>
            <a:r>
              <a:rPr kumimoji="0" lang="en-US" altLang="en-US" sz="2200" b="0" i="0" u="none" strike="noStrike" cap="none" normalizeH="0" baseline="0" dirty="0">
                <a:ln>
                  <a:noFill/>
                </a:ln>
                <a:solidFill>
                  <a:schemeClr val="tx1"/>
                </a:solidFill>
                <a:effectLst/>
                <a:latin typeface="Arial" panose="020B0604020202020204" pitchFamily="34" charset="0"/>
              </a:rPr>
              <a:t> </a:t>
            </a:r>
            <a:r>
              <a:rPr lang="en-US" altLang="en-US" sz="2200" dirty="0">
                <a:solidFill>
                  <a:schemeClr val="tx1"/>
                </a:solidFill>
                <a:latin typeface="Arial" panose="020B0604020202020204" pitchFamily="34" charset="0"/>
              </a:rPr>
              <a:t>IMDB score ranges 3-6</a:t>
            </a: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FontTx/>
              <a:buChar char="•"/>
            </a:pPr>
            <a:r>
              <a:rPr kumimoji="0" lang="en-US" altLang="en-US" sz="2200" b="1" i="0" u="none" strike="noStrike" cap="none" normalizeH="0" baseline="0" dirty="0">
                <a:ln>
                  <a:noFill/>
                </a:ln>
                <a:solidFill>
                  <a:schemeClr val="tx1"/>
                </a:solidFill>
                <a:effectLst/>
                <a:latin typeface="Arial" panose="020B0604020202020204" pitchFamily="34" charset="0"/>
              </a:rPr>
              <a:t> Hit:</a:t>
            </a:r>
            <a:r>
              <a:rPr kumimoji="0" lang="en-US" altLang="en-US" sz="2200" b="0" i="0" u="none" strike="noStrike" cap="none" normalizeH="0" baseline="0" dirty="0">
                <a:ln>
                  <a:noFill/>
                </a:ln>
                <a:solidFill>
                  <a:schemeClr val="tx1"/>
                </a:solidFill>
                <a:effectLst/>
                <a:latin typeface="Arial" panose="020B0604020202020204" pitchFamily="34" charset="0"/>
              </a:rPr>
              <a:t> </a:t>
            </a:r>
            <a:r>
              <a:rPr lang="en-US" altLang="en-US" sz="2200" dirty="0">
                <a:solidFill>
                  <a:schemeClr val="tx1"/>
                </a:solidFill>
                <a:latin typeface="Arial" panose="020B0604020202020204" pitchFamily="34" charset="0"/>
              </a:rPr>
              <a:t>IMDB score ranges 6-10</a:t>
            </a:r>
          </a:p>
        </p:txBody>
      </p:sp>
      <p:pic>
        <p:nvPicPr>
          <p:cNvPr id="8" name="Picture 7">
            <a:extLst>
              <a:ext uri="{FF2B5EF4-FFF2-40B4-BE49-F238E27FC236}">
                <a16:creationId xmlns:a16="http://schemas.microsoft.com/office/drawing/2014/main" id="{2FD6C733-3CA6-D9F6-F14D-49715ECD3194}"/>
              </a:ext>
            </a:extLst>
          </p:cNvPr>
          <p:cNvPicPr>
            <a:picLocks noChangeAspect="1"/>
          </p:cNvPicPr>
          <p:nvPr/>
        </p:nvPicPr>
        <p:blipFill>
          <a:blip r:embed="rId2"/>
          <a:stretch>
            <a:fillRect/>
          </a:stretch>
        </p:blipFill>
        <p:spPr>
          <a:xfrm>
            <a:off x="6863733" y="2570011"/>
            <a:ext cx="5171877" cy="3149655"/>
          </a:xfrm>
          <a:prstGeom prst="rect">
            <a:avLst/>
          </a:prstGeom>
        </p:spPr>
      </p:pic>
      <p:sp>
        <p:nvSpPr>
          <p:cNvPr id="9" name="TextBox 8">
            <a:extLst>
              <a:ext uri="{FF2B5EF4-FFF2-40B4-BE49-F238E27FC236}">
                <a16:creationId xmlns:a16="http://schemas.microsoft.com/office/drawing/2014/main" id="{AF653D0B-BE45-991B-9FCB-CED96FFEB3DF}"/>
              </a:ext>
            </a:extLst>
          </p:cNvPr>
          <p:cNvSpPr txBox="1"/>
          <p:nvPr/>
        </p:nvSpPr>
        <p:spPr>
          <a:xfrm>
            <a:off x="4395688" y="2821399"/>
            <a:ext cx="2710641" cy="1323439"/>
          </a:xfrm>
          <a:prstGeom prst="rect">
            <a:avLst/>
          </a:prstGeom>
          <a:noFill/>
        </p:spPr>
        <p:txBody>
          <a:bodyPr wrap="square" rtlCol="0">
            <a:spAutoFit/>
          </a:bodyPr>
          <a:lstStyle/>
          <a:p>
            <a:r>
              <a:rPr lang="en-IN" sz="2000" b="1" dirty="0">
                <a:latin typeface="Leelawadee" panose="020B0502040204020203" pitchFamily="34" charset="-34"/>
                <a:cs typeface="Leelawadee" panose="020B0502040204020203" pitchFamily="34" charset="-34"/>
              </a:rPr>
              <a:t>Distribution:</a:t>
            </a:r>
          </a:p>
          <a:p>
            <a:pPr marL="342900" indent="-342900">
              <a:buFont typeface="Arial" panose="020B0604020202020204" pitchFamily="34" charset="0"/>
              <a:buChar char="•"/>
            </a:pPr>
            <a:r>
              <a:rPr lang="en-IN" sz="2000" dirty="0"/>
              <a:t>Hit – 2411</a:t>
            </a:r>
          </a:p>
          <a:p>
            <a:r>
              <a:rPr lang="en-IN" sz="2000" dirty="0"/>
              <a:t>      Average – 1219</a:t>
            </a:r>
          </a:p>
          <a:p>
            <a:r>
              <a:rPr lang="en-IN" sz="2000" dirty="0"/>
              <a:t>      Flop - 0</a:t>
            </a:r>
          </a:p>
        </p:txBody>
      </p:sp>
      <p:sp>
        <p:nvSpPr>
          <p:cNvPr id="10" name="TextBox 9">
            <a:extLst>
              <a:ext uri="{FF2B5EF4-FFF2-40B4-BE49-F238E27FC236}">
                <a16:creationId xmlns:a16="http://schemas.microsoft.com/office/drawing/2014/main" id="{F55D2165-C7CE-0DC2-0548-9716ADDFC9CA}"/>
              </a:ext>
            </a:extLst>
          </p:cNvPr>
          <p:cNvSpPr txBox="1"/>
          <p:nvPr/>
        </p:nvSpPr>
        <p:spPr>
          <a:xfrm>
            <a:off x="4395688" y="4144838"/>
            <a:ext cx="2522230" cy="1323439"/>
          </a:xfrm>
          <a:prstGeom prst="rect">
            <a:avLst/>
          </a:prstGeom>
          <a:noFill/>
        </p:spPr>
        <p:txBody>
          <a:bodyPr wrap="square" rtlCol="0">
            <a:spAutoFit/>
          </a:bodyPr>
          <a:lstStyle/>
          <a:p>
            <a:pPr marL="285750" indent="-285750">
              <a:buFont typeface="Arial" panose="020B0604020202020204" pitchFamily="34" charset="0"/>
              <a:buChar char="•"/>
            </a:pPr>
            <a:r>
              <a:rPr lang="en-US" sz="2000" dirty="0"/>
              <a:t>As lowest IMDB score of a movie is 3.3, no movie classified as FLOP.</a:t>
            </a:r>
            <a:endParaRPr lang="en-IN" sz="2000" dirty="0"/>
          </a:p>
        </p:txBody>
      </p:sp>
    </p:spTree>
    <p:extLst>
      <p:ext uri="{BB962C8B-B14F-4D97-AF65-F5344CB8AC3E}">
        <p14:creationId xmlns:p14="http://schemas.microsoft.com/office/powerpoint/2010/main" val="1594365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a:xfrm>
            <a:off x="346089" y="391073"/>
            <a:ext cx="7295682" cy="612775"/>
          </a:xfrm>
        </p:spPr>
        <p:txBody>
          <a:bodyPr>
            <a:noAutofit/>
          </a:bodyPr>
          <a:lstStyle/>
          <a:p>
            <a:r>
              <a:rPr lang="en-IN" sz="2800" dirty="0">
                <a:latin typeface="Leelawadee" panose="020B0502040204020203" pitchFamily="34" charset="-34"/>
                <a:cs typeface="Leelawadee" panose="020B0502040204020203" pitchFamily="34" charset="-34"/>
              </a:rPr>
              <a:t>EDA (Exploratory Data Analysis)</a:t>
            </a:r>
          </a:p>
        </p:txBody>
      </p:sp>
      <p:pic>
        <p:nvPicPr>
          <p:cNvPr id="3" name="Picture 2">
            <a:extLst>
              <a:ext uri="{FF2B5EF4-FFF2-40B4-BE49-F238E27FC236}">
                <a16:creationId xmlns:a16="http://schemas.microsoft.com/office/drawing/2014/main" id="{33D1D1B2-51C2-C619-120A-61C53AE71984}"/>
              </a:ext>
            </a:extLst>
          </p:cNvPr>
          <p:cNvPicPr>
            <a:picLocks noChangeAspect="1"/>
          </p:cNvPicPr>
          <p:nvPr/>
        </p:nvPicPr>
        <p:blipFill>
          <a:blip r:embed="rId2"/>
          <a:stretch>
            <a:fillRect/>
          </a:stretch>
        </p:blipFill>
        <p:spPr>
          <a:xfrm>
            <a:off x="6521941" y="797327"/>
            <a:ext cx="5418290" cy="4778154"/>
          </a:xfrm>
          <a:prstGeom prst="rect">
            <a:avLst/>
          </a:prstGeom>
        </p:spPr>
      </p:pic>
      <p:sp>
        <p:nvSpPr>
          <p:cNvPr id="6" name="Rectangle 1">
            <a:extLst>
              <a:ext uri="{FF2B5EF4-FFF2-40B4-BE49-F238E27FC236}">
                <a16:creationId xmlns:a16="http://schemas.microsoft.com/office/drawing/2014/main" id="{9A6100DF-CDD1-30AA-4580-BE033B07EF47}"/>
              </a:ext>
            </a:extLst>
          </p:cNvPr>
          <p:cNvSpPr>
            <a:spLocks noGrp="1" noChangeArrowheads="1"/>
          </p:cNvSpPr>
          <p:nvPr>
            <p:ph idx="1"/>
          </p:nvPr>
        </p:nvSpPr>
        <p:spPr bwMode="auto">
          <a:xfrm>
            <a:off x="454737" y="1045134"/>
            <a:ext cx="529291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n-lt"/>
              </a:rPr>
              <a:t>   IMDB score distribution histogram.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n-lt"/>
              </a:rPr>
              <a:t>   No. of movies every year bar chart.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n-lt"/>
              </a:rPr>
              <a:t>   Genre-wise movies released every year.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n-lt"/>
              </a:rPr>
              <a:t>   Heatmap of feature correlations.</a:t>
            </a:r>
          </a:p>
        </p:txBody>
      </p:sp>
      <p:sp>
        <p:nvSpPr>
          <p:cNvPr id="7" name="TextBox 6">
            <a:extLst>
              <a:ext uri="{FF2B5EF4-FFF2-40B4-BE49-F238E27FC236}">
                <a16:creationId xmlns:a16="http://schemas.microsoft.com/office/drawing/2014/main" id="{29E2F219-850A-16A1-7BB8-9B90BE2AB56E}"/>
              </a:ext>
            </a:extLst>
          </p:cNvPr>
          <p:cNvSpPr txBox="1"/>
          <p:nvPr/>
        </p:nvSpPr>
        <p:spPr>
          <a:xfrm>
            <a:off x="454738" y="2750729"/>
            <a:ext cx="5292918" cy="923330"/>
          </a:xfrm>
          <a:prstGeom prst="rect">
            <a:avLst/>
          </a:prstGeom>
          <a:noFill/>
        </p:spPr>
        <p:txBody>
          <a:bodyPr wrap="square" rtlCol="0">
            <a:spAutoFit/>
          </a:bodyPr>
          <a:lstStyle/>
          <a:p>
            <a:pPr marL="285750" indent="-285750">
              <a:buFont typeface="Arial" panose="020B0604020202020204" pitchFamily="34" charset="0"/>
              <a:buChar char="•"/>
            </a:pPr>
            <a:r>
              <a:rPr lang="en-US" dirty="0"/>
              <a:t>Comedy movies are released mostly.</a:t>
            </a:r>
          </a:p>
          <a:p>
            <a:pPr marL="285750" indent="-285750">
              <a:buFont typeface="Arial" panose="020B0604020202020204" pitchFamily="34" charset="0"/>
              <a:buChar char="•"/>
            </a:pPr>
            <a:r>
              <a:rPr lang="en-US" dirty="0"/>
              <a:t>Year 2010 has the highest no. of movies released.</a:t>
            </a:r>
          </a:p>
          <a:p>
            <a:pPr marL="285750" indent="-285750">
              <a:buFont typeface="Arial" panose="020B0604020202020204" pitchFamily="34" charset="0"/>
              <a:buChar char="•"/>
            </a:pPr>
            <a:r>
              <a:rPr lang="en-US" dirty="0"/>
              <a:t>Crime genre shows the highest IMDB score.</a:t>
            </a:r>
            <a:endParaRPr lang="en-IN" dirty="0"/>
          </a:p>
        </p:txBody>
      </p:sp>
      <p:sp>
        <p:nvSpPr>
          <p:cNvPr id="8" name="TextBox 7">
            <a:extLst>
              <a:ext uri="{FF2B5EF4-FFF2-40B4-BE49-F238E27FC236}">
                <a16:creationId xmlns:a16="http://schemas.microsoft.com/office/drawing/2014/main" id="{5177C79B-4060-E318-34EE-37039FA4C03B}"/>
              </a:ext>
            </a:extLst>
          </p:cNvPr>
          <p:cNvSpPr txBox="1"/>
          <p:nvPr/>
        </p:nvSpPr>
        <p:spPr>
          <a:xfrm>
            <a:off x="454737" y="2332666"/>
            <a:ext cx="1952560" cy="369332"/>
          </a:xfrm>
          <a:prstGeom prst="rect">
            <a:avLst/>
          </a:prstGeom>
          <a:noFill/>
        </p:spPr>
        <p:txBody>
          <a:bodyPr wrap="square" rtlCol="0">
            <a:spAutoFit/>
          </a:bodyPr>
          <a:lstStyle/>
          <a:p>
            <a:r>
              <a:rPr lang="en-US" b="1" dirty="0">
                <a:latin typeface="Leelawadee" panose="020B0502040204020203" pitchFamily="34" charset="-34"/>
                <a:cs typeface="Leelawadee" panose="020B0502040204020203" pitchFamily="34" charset="-34"/>
              </a:rPr>
              <a:t>Findings:</a:t>
            </a:r>
            <a:endParaRPr lang="en-IN" b="1" dirty="0">
              <a:latin typeface="Leelawadee" panose="020B0502040204020203" pitchFamily="34" charset="-34"/>
              <a:cs typeface="Leelawadee" panose="020B0502040204020203" pitchFamily="34" charset="-34"/>
            </a:endParaRPr>
          </a:p>
        </p:txBody>
      </p:sp>
      <p:sp>
        <p:nvSpPr>
          <p:cNvPr id="9" name="TextBox 8">
            <a:extLst>
              <a:ext uri="{FF2B5EF4-FFF2-40B4-BE49-F238E27FC236}">
                <a16:creationId xmlns:a16="http://schemas.microsoft.com/office/drawing/2014/main" id="{85082E4A-258D-52E3-AFE1-EA7DD1190305}"/>
              </a:ext>
            </a:extLst>
          </p:cNvPr>
          <p:cNvSpPr txBox="1"/>
          <p:nvPr/>
        </p:nvSpPr>
        <p:spPr>
          <a:xfrm>
            <a:off x="454737" y="3809994"/>
            <a:ext cx="4929025" cy="369332"/>
          </a:xfrm>
          <a:prstGeom prst="rect">
            <a:avLst/>
          </a:prstGeom>
          <a:noFill/>
        </p:spPr>
        <p:txBody>
          <a:bodyPr wrap="square" rtlCol="0">
            <a:spAutoFit/>
          </a:bodyPr>
          <a:lstStyle/>
          <a:p>
            <a:r>
              <a:rPr lang="en-US" b="1" dirty="0">
                <a:latin typeface="Leelawadee" panose="020B0502040204020203" pitchFamily="34" charset="-34"/>
                <a:cs typeface="Leelawadee" panose="020B0502040204020203" pitchFamily="34" charset="-34"/>
              </a:rPr>
              <a:t>As of Heatmap:</a:t>
            </a:r>
            <a:endParaRPr lang="en-IN" b="1" dirty="0">
              <a:latin typeface="Leelawadee" panose="020B0502040204020203" pitchFamily="34" charset="-34"/>
              <a:cs typeface="Leelawadee" panose="020B0502040204020203" pitchFamily="34" charset="-34"/>
            </a:endParaRPr>
          </a:p>
        </p:txBody>
      </p:sp>
      <p:sp>
        <p:nvSpPr>
          <p:cNvPr id="10" name="TextBox 9">
            <a:extLst>
              <a:ext uri="{FF2B5EF4-FFF2-40B4-BE49-F238E27FC236}">
                <a16:creationId xmlns:a16="http://schemas.microsoft.com/office/drawing/2014/main" id="{8FD59FD0-8B16-DAC1-A418-BC16CCF83508}"/>
              </a:ext>
            </a:extLst>
          </p:cNvPr>
          <p:cNvSpPr txBox="1"/>
          <p:nvPr/>
        </p:nvSpPr>
        <p:spPr>
          <a:xfrm>
            <a:off x="454737" y="4179326"/>
            <a:ext cx="5544847" cy="1477328"/>
          </a:xfrm>
          <a:prstGeom prst="rect">
            <a:avLst/>
          </a:prstGeom>
          <a:noFill/>
        </p:spPr>
        <p:txBody>
          <a:bodyPr wrap="square" rtlCol="0">
            <a:spAutoFit/>
          </a:bodyPr>
          <a:lstStyle/>
          <a:p>
            <a:pPr marL="285750" indent="-285750">
              <a:buFont typeface="Arial" panose="020B0604020202020204" pitchFamily="34" charset="0"/>
              <a:buChar char="•"/>
            </a:pPr>
            <a:r>
              <a:rPr lang="en-US" dirty="0"/>
              <a:t>Selected Columns for model evaluation which has </a:t>
            </a:r>
            <a:r>
              <a:rPr lang="en-US" dirty="0" err="1"/>
              <a:t>imdb_score</a:t>
            </a:r>
            <a:r>
              <a:rPr lang="en-US" dirty="0"/>
              <a:t>&lt;=0.15 to get at least 5 features.</a:t>
            </a:r>
          </a:p>
          <a:p>
            <a:pPr marL="285750" indent="-285750">
              <a:buFont typeface="Arial" panose="020B0604020202020204" pitchFamily="34" charset="0"/>
              <a:buChar char="•"/>
            </a:pPr>
            <a:r>
              <a:rPr lang="en-IN" dirty="0"/>
              <a:t>Those are '</a:t>
            </a:r>
            <a:r>
              <a:rPr lang="en-IN" dirty="0" err="1"/>
              <a:t>num_critic_for_reviews</a:t>
            </a:r>
            <a:r>
              <a:rPr lang="en-IN" dirty="0"/>
              <a:t>’, 'duration’, '</a:t>
            </a:r>
            <a:r>
              <a:rPr lang="en-IN" dirty="0" err="1"/>
              <a:t>num_voted_users</a:t>
            </a:r>
            <a:r>
              <a:rPr lang="en-IN" dirty="0"/>
              <a:t>’, '</a:t>
            </a:r>
            <a:r>
              <a:rPr lang="en-IN" dirty="0" err="1"/>
              <a:t>num_user_for_reviews</a:t>
            </a:r>
            <a:r>
              <a:rPr lang="en-IN" dirty="0"/>
              <a:t>’, '</a:t>
            </a:r>
            <a:r>
              <a:rPr lang="en-IN" dirty="0" err="1"/>
              <a:t>movie_facebook_likes</a:t>
            </a:r>
            <a:r>
              <a:rPr lang="en-IN" dirty="0"/>
              <a:t>’ , '</a:t>
            </a:r>
            <a:r>
              <a:rPr lang="en-IN" dirty="0" err="1"/>
              <a:t>director_facebook_likes</a:t>
            </a:r>
            <a:r>
              <a:rPr lang="en-IN" dirty="0"/>
              <a:t>’.</a:t>
            </a:r>
          </a:p>
        </p:txBody>
      </p:sp>
    </p:spTree>
    <p:extLst>
      <p:ext uri="{BB962C8B-B14F-4D97-AF65-F5344CB8AC3E}">
        <p14:creationId xmlns:p14="http://schemas.microsoft.com/office/powerpoint/2010/main" val="1344420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a:xfrm>
            <a:off x="717512" y="302103"/>
            <a:ext cx="7055274" cy="612775"/>
          </a:xfrm>
        </p:spPr>
        <p:txBody>
          <a:bodyPr>
            <a:normAutofit fontScale="90000"/>
          </a:bodyPr>
          <a:lstStyle/>
          <a:p>
            <a:r>
              <a:rPr lang="en-US" sz="3600" dirty="0">
                <a:latin typeface="Leelawadee" panose="020B0502040204020203" pitchFamily="34" charset="-34"/>
                <a:cs typeface="Leelawadee" panose="020B0502040204020203" pitchFamily="34" charset="-34"/>
              </a:rPr>
              <a:t>MODEL BUILDING AND SELECTION</a:t>
            </a:r>
          </a:p>
        </p:txBody>
      </p:sp>
      <p:sp>
        <p:nvSpPr>
          <p:cNvPr id="2" name="Content Placeholder 1">
            <a:extLst>
              <a:ext uri="{FF2B5EF4-FFF2-40B4-BE49-F238E27FC236}">
                <a16:creationId xmlns:a16="http://schemas.microsoft.com/office/drawing/2014/main" id="{C9565BAE-48A9-8300-4E79-87D77968413B}"/>
              </a:ext>
            </a:extLst>
          </p:cNvPr>
          <p:cNvSpPr>
            <a:spLocks noGrp="1"/>
          </p:cNvSpPr>
          <p:nvPr>
            <p:ph idx="1"/>
          </p:nvPr>
        </p:nvSpPr>
        <p:spPr>
          <a:xfrm>
            <a:off x="718638" y="1052332"/>
            <a:ext cx="7055274" cy="4398066"/>
          </a:xfrm>
        </p:spPr>
        <p:txBody>
          <a:bodyPr lIns="0" tIns="0" rIns="0" bIns="0" numCol="2">
            <a:normAutofit/>
          </a:bodyPr>
          <a:lstStyle/>
          <a:p>
            <a:pPr marL="0" indent="0">
              <a:buNone/>
            </a:pPr>
            <a:r>
              <a:rPr lang="en-US" b="1" u="sng" dirty="0">
                <a:solidFill>
                  <a:schemeClr val="tx1"/>
                </a:solidFill>
              </a:rPr>
              <a:t>Models Used:</a:t>
            </a:r>
          </a:p>
          <a:p>
            <a:pPr marL="0" indent="0">
              <a:buNone/>
            </a:pPr>
            <a:r>
              <a:rPr lang="en-US" b="1" u="sng" dirty="0">
                <a:solidFill>
                  <a:schemeClr val="tx1"/>
                </a:solidFill>
              </a:rPr>
              <a:t>    </a:t>
            </a:r>
            <a:endParaRPr lang="en-IN" u="sng" dirty="0"/>
          </a:p>
        </p:txBody>
      </p:sp>
      <p:sp>
        <p:nvSpPr>
          <p:cNvPr id="3" name="TextBox 2">
            <a:extLst>
              <a:ext uri="{FF2B5EF4-FFF2-40B4-BE49-F238E27FC236}">
                <a16:creationId xmlns:a16="http://schemas.microsoft.com/office/drawing/2014/main" id="{A7EB1256-4AA9-6976-0B76-79E6261FF393}"/>
              </a:ext>
            </a:extLst>
          </p:cNvPr>
          <p:cNvSpPr txBox="1"/>
          <p:nvPr/>
        </p:nvSpPr>
        <p:spPr>
          <a:xfrm>
            <a:off x="445616" y="1532480"/>
            <a:ext cx="7429420" cy="1477328"/>
          </a:xfrm>
          <a:prstGeom prst="rect">
            <a:avLst/>
          </a:prstGeom>
          <a:noFill/>
        </p:spPr>
        <p:txBody>
          <a:bodyPr wrap="square" rtlCol="0">
            <a:spAutoFit/>
          </a:bodyPr>
          <a:lstStyle/>
          <a:p>
            <a:pPr marL="285750" indent="-285750">
              <a:buFont typeface="Arial" panose="020B0604020202020204" pitchFamily="34" charset="0"/>
              <a:buChar char="•"/>
            </a:pPr>
            <a:r>
              <a:rPr lang="en-US" dirty="0"/>
              <a:t>Applied </a:t>
            </a:r>
            <a:r>
              <a:rPr lang="en-US" b="1" i="1" dirty="0"/>
              <a:t>Linear regression</a:t>
            </a:r>
            <a:r>
              <a:rPr lang="en-US" dirty="0"/>
              <a:t>, </a:t>
            </a:r>
            <a:r>
              <a:rPr lang="en-US" b="1" i="1" dirty="0"/>
              <a:t>Decision Tree regression</a:t>
            </a:r>
            <a:r>
              <a:rPr lang="en-US" dirty="0"/>
              <a:t>, </a:t>
            </a:r>
            <a:r>
              <a:rPr lang="en-US" b="1" i="1" dirty="0"/>
              <a:t>Support Vector regression</a:t>
            </a:r>
            <a:r>
              <a:rPr lang="en-US" dirty="0"/>
              <a:t> and </a:t>
            </a:r>
            <a:r>
              <a:rPr lang="en-US" b="1" i="1" dirty="0"/>
              <a:t>KNN regression </a:t>
            </a:r>
            <a:r>
              <a:rPr lang="en-US" dirty="0"/>
              <a:t>models for MSE and MAE.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Applied </a:t>
            </a:r>
            <a:r>
              <a:rPr lang="en-US" b="1" i="1" dirty="0"/>
              <a:t>Logistic Regression, SVC, KNN, Decision Tree, Random Forest </a:t>
            </a:r>
            <a:r>
              <a:rPr lang="en-US" dirty="0"/>
              <a:t>models to predict movie success.</a:t>
            </a:r>
            <a:endParaRPr lang="en-IN" dirty="0"/>
          </a:p>
        </p:txBody>
      </p:sp>
      <p:sp>
        <p:nvSpPr>
          <p:cNvPr id="5" name="TextBox 4">
            <a:extLst>
              <a:ext uri="{FF2B5EF4-FFF2-40B4-BE49-F238E27FC236}">
                <a16:creationId xmlns:a16="http://schemas.microsoft.com/office/drawing/2014/main" id="{A28D6A42-24DB-F47C-64C7-635EC2B0C307}"/>
              </a:ext>
            </a:extLst>
          </p:cNvPr>
          <p:cNvSpPr txBox="1"/>
          <p:nvPr/>
        </p:nvSpPr>
        <p:spPr>
          <a:xfrm>
            <a:off x="585576" y="3165494"/>
            <a:ext cx="3044032" cy="523220"/>
          </a:xfrm>
          <a:prstGeom prst="rect">
            <a:avLst/>
          </a:prstGeom>
          <a:noFill/>
        </p:spPr>
        <p:txBody>
          <a:bodyPr wrap="square" rtlCol="0">
            <a:spAutoFit/>
          </a:bodyPr>
          <a:lstStyle/>
          <a:p>
            <a:r>
              <a:rPr lang="en-US" sz="2800" b="1" u="sng" dirty="0"/>
              <a:t>Metrics Evaluated:</a:t>
            </a:r>
            <a:endParaRPr lang="en-IN" sz="2800" b="1" u="sng" dirty="0"/>
          </a:p>
        </p:txBody>
      </p:sp>
      <p:sp>
        <p:nvSpPr>
          <p:cNvPr id="6" name="TextBox 5">
            <a:extLst>
              <a:ext uri="{FF2B5EF4-FFF2-40B4-BE49-F238E27FC236}">
                <a16:creationId xmlns:a16="http://schemas.microsoft.com/office/drawing/2014/main" id="{2220CBF9-3D64-864F-8A86-77B79E0ED8B5}"/>
              </a:ext>
            </a:extLst>
          </p:cNvPr>
          <p:cNvSpPr txBox="1"/>
          <p:nvPr/>
        </p:nvSpPr>
        <p:spPr>
          <a:xfrm>
            <a:off x="444761" y="3759676"/>
            <a:ext cx="7429419" cy="2308324"/>
          </a:xfrm>
          <a:prstGeom prst="rect">
            <a:avLst/>
          </a:prstGeom>
          <a:noFill/>
        </p:spPr>
        <p:txBody>
          <a:bodyPr wrap="square" rtlCol="0">
            <a:spAutoFit/>
          </a:bodyPr>
          <a:lstStyle/>
          <a:p>
            <a:pPr marL="285750" indent="-285750">
              <a:buFont typeface="Arial" panose="020B0604020202020204" pitchFamily="34" charset="0"/>
              <a:buChar char="•"/>
            </a:pPr>
            <a:r>
              <a:rPr lang="en-US" dirty="0"/>
              <a:t>Mean Squared Error (MSE) measures the average of the squared differences between predicted values and actual values. It penalizes bigger mistakes more heavily than smaller ones.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Mean Absolute Error (MAE) measures the average of the absolute differences between predicted values and actual values. It tells you how far off your predictions are on average, without considering direction (no positive/negative effect).</a:t>
            </a:r>
            <a:endParaRPr lang="en-IN" dirty="0"/>
          </a:p>
        </p:txBody>
      </p:sp>
      <p:pic>
        <p:nvPicPr>
          <p:cNvPr id="8" name="Picture 7">
            <a:extLst>
              <a:ext uri="{FF2B5EF4-FFF2-40B4-BE49-F238E27FC236}">
                <a16:creationId xmlns:a16="http://schemas.microsoft.com/office/drawing/2014/main" id="{EE9C2D00-98BC-C43D-B55E-3D39082F8A49}"/>
              </a:ext>
            </a:extLst>
          </p:cNvPr>
          <p:cNvPicPr>
            <a:picLocks noChangeAspect="1"/>
          </p:cNvPicPr>
          <p:nvPr/>
        </p:nvPicPr>
        <p:blipFill>
          <a:blip r:embed="rId3"/>
          <a:srcRect l="3969" t="20583" r="2016" b="11850"/>
          <a:stretch>
            <a:fillRect/>
          </a:stretch>
        </p:blipFill>
        <p:spPr>
          <a:xfrm>
            <a:off x="8301980" y="1495340"/>
            <a:ext cx="3699450" cy="322268"/>
          </a:xfrm>
          <a:prstGeom prst="rect">
            <a:avLst/>
          </a:prstGeom>
        </p:spPr>
      </p:pic>
      <p:pic>
        <p:nvPicPr>
          <p:cNvPr id="10" name="Picture 9">
            <a:extLst>
              <a:ext uri="{FF2B5EF4-FFF2-40B4-BE49-F238E27FC236}">
                <a16:creationId xmlns:a16="http://schemas.microsoft.com/office/drawing/2014/main" id="{05766FA8-749E-CA65-59AD-AE5891F4A837}"/>
              </a:ext>
            </a:extLst>
          </p:cNvPr>
          <p:cNvPicPr>
            <a:picLocks noChangeAspect="1"/>
          </p:cNvPicPr>
          <p:nvPr/>
        </p:nvPicPr>
        <p:blipFill>
          <a:blip r:embed="rId4"/>
          <a:srcRect/>
          <a:stretch>
            <a:fillRect/>
          </a:stretch>
        </p:blipFill>
        <p:spPr>
          <a:xfrm>
            <a:off x="8301980" y="2149408"/>
            <a:ext cx="3699450" cy="390100"/>
          </a:xfrm>
          <a:prstGeom prst="rect">
            <a:avLst/>
          </a:prstGeom>
        </p:spPr>
      </p:pic>
      <p:pic>
        <p:nvPicPr>
          <p:cNvPr id="14" name="Picture 13">
            <a:extLst>
              <a:ext uri="{FF2B5EF4-FFF2-40B4-BE49-F238E27FC236}">
                <a16:creationId xmlns:a16="http://schemas.microsoft.com/office/drawing/2014/main" id="{7AF672F5-4081-61B7-FAA0-D07EE540D788}"/>
              </a:ext>
            </a:extLst>
          </p:cNvPr>
          <p:cNvPicPr>
            <a:picLocks noChangeAspect="1"/>
          </p:cNvPicPr>
          <p:nvPr/>
        </p:nvPicPr>
        <p:blipFill>
          <a:blip r:embed="rId5"/>
          <a:stretch>
            <a:fillRect/>
          </a:stretch>
        </p:blipFill>
        <p:spPr>
          <a:xfrm>
            <a:off x="8301980" y="2814758"/>
            <a:ext cx="3699450" cy="390100"/>
          </a:xfrm>
          <a:prstGeom prst="rect">
            <a:avLst/>
          </a:prstGeom>
        </p:spPr>
      </p:pic>
      <p:pic>
        <p:nvPicPr>
          <p:cNvPr id="16" name="Picture 15">
            <a:extLst>
              <a:ext uri="{FF2B5EF4-FFF2-40B4-BE49-F238E27FC236}">
                <a16:creationId xmlns:a16="http://schemas.microsoft.com/office/drawing/2014/main" id="{A8955BBA-EF0B-FF84-F558-147B39573C10}"/>
              </a:ext>
            </a:extLst>
          </p:cNvPr>
          <p:cNvPicPr>
            <a:picLocks noChangeAspect="1"/>
          </p:cNvPicPr>
          <p:nvPr/>
        </p:nvPicPr>
        <p:blipFill>
          <a:blip r:embed="rId6"/>
          <a:srcRect r="14055"/>
          <a:stretch>
            <a:fillRect/>
          </a:stretch>
        </p:blipFill>
        <p:spPr>
          <a:xfrm>
            <a:off x="8301980" y="3480108"/>
            <a:ext cx="3699450" cy="390100"/>
          </a:xfrm>
          <a:prstGeom prst="rect">
            <a:avLst/>
          </a:prstGeom>
        </p:spPr>
      </p:pic>
      <p:sp>
        <p:nvSpPr>
          <p:cNvPr id="17" name="TextBox 16">
            <a:extLst>
              <a:ext uri="{FF2B5EF4-FFF2-40B4-BE49-F238E27FC236}">
                <a16:creationId xmlns:a16="http://schemas.microsoft.com/office/drawing/2014/main" id="{01DFD2A4-750C-1D1A-F4FF-D95E276060B7}"/>
              </a:ext>
            </a:extLst>
          </p:cNvPr>
          <p:cNvSpPr txBox="1"/>
          <p:nvPr/>
        </p:nvSpPr>
        <p:spPr>
          <a:xfrm>
            <a:off x="8556170" y="4250069"/>
            <a:ext cx="3191069" cy="1200329"/>
          </a:xfrm>
          <a:prstGeom prst="rect">
            <a:avLst/>
          </a:prstGeom>
          <a:noFill/>
        </p:spPr>
        <p:txBody>
          <a:bodyPr wrap="square" rtlCol="0">
            <a:spAutoFit/>
          </a:bodyPr>
          <a:lstStyle/>
          <a:p>
            <a:r>
              <a:rPr lang="en-US" b="1" u="sng" dirty="0">
                <a:solidFill>
                  <a:schemeClr val="bg1"/>
                </a:solidFill>
              </a:rPr>
              <a:t>Conclusion</a:t>
            </a:r>
            <a:r>
              <a:rPr lang="en-US" b="1" dirty="0">
                <a:solidFill>
                  <a:schemeClr val="bg1"/>
                </a:solidFill>
              </a:rPr>
              <a:t>: </a:t>
            </a:r>
            <a:r>
              <a:rPr lang="en-US" dirty="0">
                <a:solidFill>
                  <a:schemeClr val="bg1"/>
                </a:solidFill>
              </a:rPr>
              <a:t>Linear Regression model seems to perform best among all with MSE = 0.71 and MAE = 0.66.</a:t>
            </a:r>
            <a:endParaRPr lang="en-IN" dirty="0">
              <a:solidFill>
                <a:schemeClr val="bg1"/>
              </a:solidFill>
            </a:endParaRPr>
          </a:p>
        </p:txBody>
      </p:sp>
      <p:sp>
        <p:nvSpPr>
          <p:cNvPr id="18" name="TextBox 17">
            <a:extLst>
              <a:ext uri="{FF2B5EF4-FFF2-40B4-BE49-F238E27FC236}">
                <a16:creationId xmlns:a16="http://schemas.microsoft.com/office/drawing/2014/main" id="{8DB32C15-B9B7-A683-D51D-AF8897D81B0F}"/>
              </a:ext>
            </a:extLst>
          </p:cNvPr>
          <p:cNvSpPr txBox="1"/>
          <p:nvPr/>
        </p:nvSpPr>
        <p:spPr>
          <a:xfrm>
            <a:off x="8642410" y="575508"/>
            <a:ext cx="3359020" cy="646331"/>
          </a:xfrm>
          <a:prstGeom prst="rect">
            <a:avLst/>
          </a:prstGeom>
          <a:noFill/>
        </p:spPr>
        <p:txBody>
          <a:bodyPr wrap="square" rtlCol="0">
            <a:spAutoFit/>
          </a:bodyPr>
          <a:lstStyle/>
          <a:p>
            <a:r>
              <a:rPr lang="en-US" dirty="0">
                <a:solidFill>
                  <a:schemeClr val="accent5">
                    <a:lumMod val="60000"/>
                    <a:lumOff val="40000"/>
                  </a:schemeClr>
                </a:solidFill>
                <a:latin typeface="Leelawadee" panose="020B0502040204020203" pitchFamily="34" charset="-34"/>
                <a:ea typeface="Namdhinggo" panose="02000000000000000000" pitchFamily="2" charset="0"/>
                <a:cs typeface="Leelawadee" panose="020B0502040204020203" pitchFamily="34" charset="-34"/>
              </a:rPr>
              <a:t>LOWER THE MSE AND MAE BETTER THE PERFORMANCE</a:t>
            </a:r>
            <a:endParaRPr lang="en-IN" dirty="0">
              <a:solidFill>
                <a:schemeClr val="accent5">
                  <a:lumMod val="60000"/>
                  <a:lumOff val="40000"/>
                </a:schemeClr>
              </a:solidFill>
              <a:latin typeface="Leelawadee" panose="020B0502040204020203" pitchFamily="34" charset="-34"/>
              <a:ea typeface="Namdhinggo" panose="02000000000000000000" pitchFamily="2" charset="0"/>
              <a:cs typeface="Leelawadee" panose="020B0502040204020203" pitchFamily="34" charset="-34"/>
            </a:endParaRPr>
          </a:p>
        </p:txBody>
      </p:sp>
    </p:spTree>
    <p:extLst>
      <p:ext uri="{BB962C8B-B14F-4D97-AF65-F5344CB8AC3E}">
        <p14:creationId xmlns:p14="http://schemas.microsoft.com/office/powerpoint/2010/main" val="2845992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BECE6-56CC-C900-843E-A907CF55EE5C}"/>
              </a:ext>
            </a:extLst>
          </p:cNvPr>
          <p:cNvSpPr>
            <a:spLocks noGrp="1"/>
          </p:cNvSpPr>
          <p:nvPr>
            <p:ph type="title"/>
          </p:nvPr>
        </p:nvSpPr>
        <p:spPr>
          <a:xfrm rot="10800000" flipV="1">
            <a:off x="501597" y="129223"/>
            <a:ext cx="3833191" cy="585495"/>
          </a:xfrm>
        </p:spPr>
        <p:txBody>
          <a:bodyPr>
            <a:normAutofit/>
          </a:bodyPr>
          <a:lstStyle/>
          <a:p>
            <a:r>
              <a:rPr lang="en-US" sz="2800" dirty="0"/>
              <a:t>Other Metrics Evaluated:</a:t>
            </a:r>
            <a:endParaRPr lang="en-IN" sz="2800" dirty="0"/>
          </a:p>
        </p:txBody>
      </p:sp>
      <p:sp>
        <p:nvSpPr>
          <p:cNvPr id="3" name="Content Placeholder 2">
            <a:extLst>
              <a:ext uri="{FF2B5EF4-FFF2-40B4-BE49-F238E27FC236}">
                <a16:creationId xmlns:a16="http://schemas.microsoft.com/office/drawing/2014/main" id="{A45BB0BC-2247-73FD-D2E2-7F69C1DDBC9B}"/>
              </a:ext>
            </a:extLst>
          </p:cNvPr>
          <p:cNvSpPr>
            <a:spLocks noGrp="1"/>
          </p:cNvSpPr>
          <p:nvPr>
            <p:ph idx="1"/>
          </p:nvPr>
        </p:nvSpPr>
        <p:spPr>
          <a:xfrm>
            <a:off x="249674" y="714718"/>
            <a:ext cx="5637944" cy="3496184"/>
          </a:xfrm>
        </p:spPr>
        <p:txBody>
          <a:bodyPr>
            <a:normAutofit/>
          </a:bodyPr>
          <a:lstStyle/>
          <a:p>
            <a:r>
              <a:rPr lang="en-US" sz="1800" b="1" dirty="0">
                <a:solidFill>
                  <a:srgbClr val="C00000"/>
                </a:solidFill>
              </a:rPr>
              <a:t>Accuracy</a:t>
            </a:r>
            <a:r>
              <a:rPr lang="en-US" sz="1800" dirty="0"/>
              <a:t> - Measures the percentage of all movies that were correctly classified into Hit, Average, or Flop.</a:t>
            </a:r>
          </a:p>
          <a:p>
            <a:r>
              <a:rPr lang="en-US" sz="1800" b="1" dirty="0">
                <a:solidFill>
                  <a:srgbClr val="C00000"/>
                </a:solidFill>
              </a:rPr>
              <a:t>Precision</a:t>
            </a:r>
            <a:r>
              <a:rPr lang="en-US" sz="1800" dirty="0"/>
              <a:t> - Measures how many movies predicted as a certain class (Hit / Average / Flop) were actually that class.</a:t>
            </a:r>
          </a:p>
          <a:p>
            <a:r>
              <a:rPr lang="en-US" sz="1800" b="1" dirty="0">
                <a:solidFill>
                  <a:srgbClr val="C00000"/>
                </a:solidFill>
              </a:rPr>
              <a:t>Recall</a:t>
            </a:r>
            <a:r>
              <a:rPr lang="en-US" sz="1800" dirty="0"/>
              <a:t> - Measures how many actual movies of a certain class the model successfully captured.</a:t>
            </a:r>
          </a:p>
          <a:p>
            <a:r>
              <a:rPr lang="en-US" sz="1800" b="1" dirty="0">
                <a:solidFill>
                  <a:srgbClr val="C00000"/>
                </a:solidFill>
              </a:rPr>
              <a:t>F1-score</a:t>
            </a:r>
            <a:r>
              <a:rPr lang="en-US" sz="1800" dirty="0"/>
              <a:t> - A balance between precision and recall. Useful when both false positives and false negatives are important.</a:t>
            </a:r>
            <a:endParaRPr lang="en-IN" sz="1800" dirty="0"/>
          </a:p>
        </p:txBody>
      </p:sp>
      <p:pic>
        <p:nvPicPr>
          <p:cNvPr id="5" name="Picture 4">
            <a:extLst>
              <a:ext uri="{FF2B5EF4-FFF2-40B4-BE49-F238E27FC236}">
                <a16:creationId xmlns:a16="http://schemas.microsoft.com/office/drawing/2014/main" id="{F74B7148-7FCA-6790-AFF0-E26D044013F1}"/>
              </a:ext>
            </a:extLst>
          </p:cNvPr>
          <p:cNvPicPr>
            <a:picLocks noChangeAspect="1"/>
          </p:cNvPicPr>
          <p:nvPr/>
        </p:nvPicPr>
        <p:blipFill>
          <a:blip r:embed="rId2"/>
          <a:srcRect l="4337" r="11399"/>
          <a:stretch>
            <a:fillRect/>
          </a:stretch>
        </p:blipFill>
        <p:spPr>
          <a:xfrm>
            <a:off x="6987585" y="2636411"/>
            <a:ext cx="4766917" cy="3113580"/>
          </a:xfrm>
          <a:prstGeom prst="rect">
            <a:avLst/>
          </a:prstGeom>
        </p:spPr>
      </p:pic>
      <p:pic>
        <p:nvPicPr>
          <p:cNvPr id="7" name="Picture 6">
            <a:extLst>
              <a:ext uri="{FF2B5EF4-FFF2-40B4-BE49-F238E27FC236}">
                <a16:creationId xmlns:a16="http://schemas.microsoft.com/office/drawing/2014/main" id="{3B5FAA63-723F-F359-0473-7FBD8387FB20}"/>
              </a:ext>
            </a:extLst>
          </p:cNvPr>
          <p:cNvPicPr>
            <a:picLocks noChangeAspect="1"/>
          </p:cNvPicPr>
          <p:nvPr/>
        </p:nvPicPr>
        <p:blipFill>
          <a:blip r:embed="rId3"/>
          <a:stretch>
            <a:fillRect/>
          </a:stretch>
        </p:blipFill>
        <p:spPr>
          <a:xfrm>
            <a:off x="7454448" y="381852"/>
            <a:ext cx="3833192" cy="1844200"/>
          </a:xfrm>
          <a:prstGeom prst="rect">
            <a:avLst/>
          </a:prstGeom>
        </p:spPr>
      </p:pic>
      <p:sp>
        <p:nvSpPr>
          <p:cNvPr id="8" name="TextBox 7">
            <a:extLst>
              <a:ext uri="{FF2B5EF4-FFF2-40B4-BE49-F238E27FC236}">
                <a16:creationId xmlns:a16="http://schemas.microsoft.com/office/drawing/2014/main" id="{ABE59986-EBBA-DC1E-193B-6EB12BE48E3E}"/>
              </a:ext>
            </a:extLst>
          </p:cNvPr>
          <p:cNvSpPr txBox="1"/>
          <p:nvPr/>
        </p:nvSpPr>
        <p:spPr>
          <a:xfrm>
            <a:off x="437498" y="3661131"/>
            <a:ext cx="3251211" cy="523220"/>
          </a:xfrm>
          <a:prstGeom prst="rect">
            <a:avLst/>
          </a:prstGeom>
          <a:noFill/>
        </p:spPr>
        <p:txBody>
          <a:bodyPr wrap="none" rtlCol="0">
            <a:spAutoFit/>
          </a:bodyPr>
          <a:lstStyle/>
          <a:p>
            <a:r>
              <a:rPr lang="en-US" sz="2800" b="1" dirty="0"/>
              <a:t>Model Performance:</a:t>
            </a:r>
            <a:endParaRPr lang="en-IN" sz="2800" b="1" dirty="0"/>
          </a:p>
        </p:txBody>
      </p:sp>
      <p:sp>
        <p:nvSpPr>
          <p:cNvPr id="9" name="TextBox 8">
            <a:extLst>
              <a:ext uri="{FF2B5EF4-FFF2-40B4-BE49-F238E27FC236}">
                <a16:creationId xmlns:a16="http://schemas.microsoft.com/office/drawing/2014/main" id="{47285A59-BD42-2D53-7452-0C9C320E1177}"/>
              </a:ext>
            </a:extLst>
          </p:cNvPr>
          <p:cNvSpPr txBox="1"/>
          <p:nvPr/>
        </p:nvSpPr>
        <p:spPr>
          <a:xfrm>
            <a:off x="249674" y="4210902"/>
            <a:ext cx="5637944" cy="369332"/>
          </a:xfrm>
          <a:prstGeom prst="rect">
            <a:avLst/>
          </a:prstGeom>
          <a:noFill/>
        </p:spPr>
        <p:txBody>
          <a:bodyPr wrap="square" rtlCol="0">
            <a:spAutoFit/>
          </a:bodyPr>
          <a:lstStyle/>
          <a:p>
            <a:pPr marL="285750" indent="-285750">
              <a:buFont typeface="Arial" panose="020B0604020202020204" pitchFamily="34" charset="0"/>
              <a:buChar char="•"/>
            </a:pPr>
            <a:r>
              <a:rPr lang="en-US" b="1" u="sng" dirty="0">
                <a:solidFill>
                  <a:srgbClr val="002060"/>
                </a:solidFill>
              </a:rPr>
              <a:t>Final Model</a:t>
            </a:r>
          </a:p>
        </p:txBody>
      </p:sp>
      <p:sp>
        <p:nvSpPr>
          <p:cNvPr id="10" name="TextBox 9">
            <a:extLst>
              <a:ext uri="{FF2B5EF4-FFF2-40B4-BE49-F238E27FC236}">
                <a16:creationId xmlns:a16="http://schemas.microsoft.com/office/drawing/2014/main" id="{9389DC97-2C3E-841F-A86E-425D82E6B115}"/>
              </a:ext>
            </a:extLst>
          </p:cNvPr>
          <p:cNvSpPr txBox="1"/>
          <p:nvPr/>
        </p:nvSpPr>
        <p:spPr>
          <a:xfrm>
            <a:off x="437498" y="4580234"/>
            <a:ext cx="5637944" cy="1754326"/>
          </a:xfrm>
          <a:prstGeom prst="rect">
            <a:avLst/>
          </a:prstGeom>
          <a:noFill/>
        </p:spPr>
        <p:txBody>
          <a:bodyPr wrap="square" rtlCol="0">
            <a:spAutoFit/>
          </a:bodyPr>
          <a:lstStyle/>
          <a:p>
            <a:r>
              <a:rPr lang="en-US" dirty="0"/>
              <a:t>Among all the models I tested, </a:t>
            </a:r>
            <a:r>
              <a:rPr lang="en-US" b="1" dirty="0"/>
              <a:t>Random Forest performed the best</a:t>
            </a:r>
            <a:r>
              <a:rPr lang="en-US" dirty="0"/>
              <a:t>. It gave the highest F1-score which means it was the most accurate in classifying movies and predicting its success while maintaining a good balance between precision and recall.</a:t>
            </a:r>
            <a:endParaRPr lang="en-IN" dirty="0"/>
          </a:p>
          <a:p>
            <a:endParaRPr lang="en-IN" dirty="0"/>
          </a:p>
        </p:txBody>
      </p:sp>
    </p:spTree>
    <p:extLst>
      <p:ext uri="{BB962C8B-B14F-4D97-AF65-F5344CB8AC3E}">
        <p14:creationId xmlns:p14="http://schemas.microsoft.com/office/powerpoint/2010/main" val="407975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721C8-0ECD-753B-3EA5-10E77EF087FE}"/>
              </a:ext>
            </a:extLst>
          </p:cNvPr>
          <p:cNvSpPr>
            <a:spLocks noGrp="1"/>
          </p:cNvSpPr>
          <p:nvPr>
            <p:ph type="title"/>
          </p:nvPr>
        </p:nvSpPr>
        <p:spPr>
          <a:xfrm>
            <a:off x="678883" y="482368"/>
            <a:ext cx="10834234" cy="612775"/>
          </a:xfrm>
        </p:spPr>
        <p:txBody>
          <a:bodyPr>
            <a:normAutofit/>
          </a:bodyPr>
          <a:lstStyle/>
          <a:p>
            <a:r>
              <a:rPr lang="en-US" sz="3600" dirty="0">
                <a:solidFill>
                  <a:schemeClr val="tx1">
                    <a:lumMod val="90000"/>
                    <a:lumOff val="10000"/>
                  </a:schemeClr>
                </a:solidFill>
                <a:latin typeface="Leelawadee" panose="020B0502040204020203" pitchFamily="34" charset="-34"/>
                <a:cs typeface="Leelawadee" panose="020B0502040204020203" pitchFamily="34" charset="-34"/>
              </a:rPr>
              <a:t>CONCLUSION</a:t>
            </a:r>
            <a:endParaRPr lang="en-IN" sz="3600" dirty="0">
              <a:solidFill>
                <a:schemeClr val="tx1">
                  <a:lumMod val="90000"/>
                  <a:lumOff val="10000"/>
                </a:schemeClr>
              </a:solidFill>
              <a:latin typeface="Leelawadee" panose="020B0502040204020203" pitchFamily="34" charset="-34"/>
              <a:cs typeface="Leelawadee" panose="020B0502040204020203" pitchFamily="34" charset="-34"/>
            </a:endParaRPr>
          </a:p>
        </p:txBody>
      </p:sp>
      <p:sp>
        <p:nvSpPr>
          <p:cNvPr id="8" name="Rectangle 2">
            <a:extLst>
              <a:ext uri="{FF2B5EF4-FFF2-40B4-BE49-F238E27FC236}">
                <a16:creationId xmlns:a16="http://schemas.microsoft.com/office/drawing/2014/main" id="{03AA504E-67A3-4C0F-BCB6-28E6AC4CECC4}"/>
              </a:ext>
            </a:extLst>
          </p:cNvPr>
          <p:cNvSpPr>
            <a:spLocks noChangeArrowheads="1"/>
          </p:cNvSpPr>
          <p:nvPr/>
        </p:nvSpPr>
        <p:spPr bwMode="auto">
          <a:xfrm>
            <a:off x="343677" y="1003580"/>
            <a:ext cx="11504645"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Random Forest classifier achieved 73% accuracy</a:t>
            </a:r>
            <a:r>
              <a:rPr kumimoji="0" lang="en-US" altLang="en-US" sz="1800" b="0" i="0" u="none" strike="noStrike" cap="none" normalizeH="0" baseline="0" dirty="0">
                <a:ln>
                  <a:noFill/>
                </a:ln>
                <a:solidFill>
                  <a:schemeClr val="tx1"/>
                </a:solidFill>
                <a:effectLst/>
                <a:latin typeface="Arial" panose="020B0604020202020204" pitchFamily="34" charset="0"/>
              </a:rPr>
              <a:t> in predicting whether a movie becomes a </a:t>
            </a:r>
            <a:r>
              <a:rPr kumimoji="0" lang="en-US" altLang="en-US" sz="1800" b="1" i="0" u="none" strike="noStrike" cap="none" normalizeH="0" baseline="0" dirty="0">
                <a:ln>
                  <a:noFill/>
                </a:ln>
                <a:solidFill>
                  <a:schemeClr val="tx1"/>
                </a:solidFill>
                <a:effectLst/>
                <a:latin typeface="Arial" panose="020B0604020202020204" pitchFamily="34" charset="0"/>
              </a:rPr>
              <a:t>Hit, Average, or Flop</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This indicates that the model correctly classifies about </a:t>
            </a:r>
            <a:r>
              <a:rPr kumimoji="0" lang="en-US" altLang="en-US" sz="1800" b="1" i="0" u="none" strike="noStrike" cap="none" normalizeH="0" baseline="0" dirty="0">
                <a:ln>
                  <a:noFill/>
                </a:ln>
                <a:solidFill>
                  <a:schemeClr val="tx1"/>
                </a:solidFill>
                <a:effectLst/>
                <a:latin typeface="Arial" panose="020B0604020202020204" pitchFamily="34" charset="0"/>
              </a:rPr>
              <a:t>3 out of every 4 movies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72829C8B-DC11-A6AF-F3E0-A7DFD19500BC}"/>
              </a:ext>
            </a:extLst>
          </p:cNvPr>
          <p:cNvSpPr txBox="1"/>
          <p:nvPr/>
        </p:nvSpPr>
        <p:spPr>
          <a:xfrm>
            <a:off x="580829" y="2761396"/>
            <a:ext cx="5515171" cy="3170099"/>
          </a:xfrm>
          <a:prstGeom prst="rect">
            <a:avLst/>
          </a:prstGeom>
          <a:noFill/>
        </p:spPr>
        <p:txBody>
          <a:bodyPr wrap="square" rtlCol="0">
            <a:spAutoFit/>
          </a:bodyPr>
          <a:lstStyle/>
          <a:p>
            <a:pPr lvl="0"/>
            <a:r>
              <a:rPr lang="en-IN" sz="2000" b="1" u="sng" dirty="0">
                <a:solidFill>
                  <a:srgbClr val="C00000"/>
                </a:solidFill>
                <a:latin typeface="Leelawadee" panose="020B0502040204020203" pitchFamily="34" charset="-34"/>
                <a:cs typeface="Leelawadee" panose="020B0502040204020203" pitchFamily="34" charset="-34"/>
              </a:rPr>
              <a:t>OTHER IMPACTS</a:t>
            </a:r>
          </a:p>
          <a:p>
            <a:pPr lvl="0"/>
            <a:endParaRPr lang="en-IN" b="1" dirty="0"/>
          </a:p>
          <a:p>
            <a:pPr marL="285750" lvl="0" indent="-285750">
              <a:buFont typeface="Arial" panose="020B0604020202020204" pitchFamily="34" charset="0"/>
              <a:buChar char="•"/>
            </a:pPr>
            <a:r>
              <a:rPr lang="en-IN" b="1" dirty="0"/>
              <a:t>Production Optimization</a:t>
            </a:r>
            <a:r>
              <a:rPr lang="en-IN" dirty="0"/>
              <a:t>: The model will help identify factors influencing movie success, allowing for more informed decisions in movie production. </a:t>
            </a:r>
          </a:p>
          <a:p>
            <a:pPr marL="285750" lvl="0" indent="-285750">
              <a:buFont typeface="Arial" panose="020B0604020202020204" pitchFamily="34" charset="0"/>
              <a:buChar char="•"/>
            </a:pPr>
            <a:r>
              <a:rPr lang="en-IN" b="1" dirty="0"/>
              <a:t>Marketing Strategy</a:t>
            </a:r>
            <a:r>
              <a:rPr lang="en-IN" dirty="0"/>
              <a:t>: Accurate prediction of movie success can assist in tailoring marketing efforts and budget allocation. </a:t>
            </a:r>
          </a:p>
          <a:p>
            <a:pPr marL="285750" lvl="0" indent="-285750">
              <a:buFont typeface="Arial" panose="020B0604020202020204" pitchFamily="34" charset="0"/>
              <a:buChar char="•"/>
            </a:pPr>
            <a:r>
              <a:rPr lang="en-IN" b="1" dirty="0"/>
              <a:t>Industry Insights</a:t>
            </a:r>
            <a:r>
              <a:rPr lang="en-IN" dirty="0"/>
              <a:t>: Understanding success patterns can guide future trends and innovations in filmmaking. </a:t>
            </a:r>
          </a:p>
          <a:p>
            <a:endParaRPr lang="en-IN" dirty="0"/>
          </a:p>
        </p:txBody>
      </p:sp>
      <p:sp>
        <p:nvSpPr>
          <p:cNvPr id="10" name="TextBox 9">
            <a:extLst>
              <a:ext uri="{FF2B5EF4-FFF2-40B4-BE49-F238E27FC236}">
                <a16:creationId xmlns:a16="http://schemas.microsoft.com/office/drawing/2014/main" id="{17DB86FE-7D5A-4D7C-BB67-238F86DA609D}"/>
              </a:ext>
            </a:extLst>
          </p:cNvPr>
          <p:cNvSpPr txBox="1"/>
          <p:nvPr/>
        </p:nvSpPr>
        <p:spPr>
          <a:xfrm>
            <a:off x="6792686" y="2761396"/>
            <a:ext cx="4627983" cy="2677656"/>
          </a:xfrm>
          <a:prstGeom prst="rect">
            <a:avLst/>
          </a:prstGeom>
          <a:noFill/>
        </p:spPr>
        <p:txBody>
          <a:bodyPr wrap="square" rtlCol="0">
            <a:spAutoFit/>
          </a:bodyPr>
          <a:lstStyle/>
          <a:p>
            <a:r>
              <a:rPr lang="en-IN" sz="2000" b="1" u="sng" dirty="0">
                <a:solidFill>
                  <a:srgbClr val="C00000"/>
                </a:solidFill>
                <a:latin typeface="Leelawadee" panose="020B0502040204020203" pitchFamily="34" charset="-34"/>
                <a:cs typeface="Leelawadee" panose="020B0502040204020203" pitchFamily="34" charset="-34"/>
              </a:rPr>
              <a:t>FUTURE ENHANCEMENTS</a:t>
            </a:r>
          </a:p>
          <a:p>
            <a:pPr marL="342900" indent="-342900">
              <a:buFont typeface="Arial" panose="020B0604020202020204" pitchFamily="34" charset="0"/>
              <a:buChar char="•"/>
            </a:pPr>
            <a:endParaRPr lang="en-IN" sz="2000" b="1" u="sng" dirty="0">
              <a:solidFill>
                <a:srgbClr val="C00000"/>
              </a:solidFill>
              <a:latin typeface="Leelawadee" panose="020B0502040204020203" pitchFamily="34" charset="-34"/>
              <a:cs typeface="Leelawadee" panose="020B0502040204020203" pitchFamily="34" charset="-34"/>
            </a:endParaRPr>
          </a:p>
          <a:p>
            <a:pPr marL="342900" indent="-342900">
              <a:buFont typeface="Arial" panose="020B0604020202020204" pitchFamily="34" charset="0"/>
              <a:buChar char="•"/>
            </a:pPr>
            <a:r>
              <a:rPr lang="en-US" dirty="0"/>
              <a:t>Add marketing spend data.</a:t>
            </a:r>
          </a:p>
          <a:p>
            <a:pPr marL="342900" indent="-342900">
              <a:buFont typeface="Arial" panose="020B0604020202020204" pitchFamily="34" charset="0"/>
              <a:buChar char="•"/>
            </a:pPr>
            <a:r>
              <a:rPr lang="en-US" dirty="0"/>
              <a:t>Use NLP on reviews and social media posts.</a:t>
            </a:r>
          </a:p>
          <a:p>
            <a:pPr marL="342900" indent="-342900">
              <a:buFont typeface="Arial" panose="020B0604020202020204" pitchFamily="34" charset="0"/>
              <a:buChar char="•"/>
            </a:pPr>
            <a:r>
              <a:rPr lang="en-US" dirty="0"/>
              <a:t>Explore deep learning models (LSTM, Transformers).</a:t>
            </a:r>
          </a:p>
          <a:p>
            <a:pPr marL="342900" indent="-342900">
              <a:buFont typeface="Arial" panose="020B0604020202020204" pitchFamily="34" charset="0"/>
              <a:buChar char="•"/>
            </a:pPr>
            <a:r>
              <a:rPr lang="en-US" dirty="0"/>
              <a:t>Improve balancing of classes for sharper Hit/Flop distinctions.</a:t>
            </a:r>
          </a:p>
          <a:p>
            <a:pPr marL="342900" indent="-342900">
              <a:buFont typeface="Arial" panose="020B0604020202020204" pitchFamily="34" charset="0"/>
              <a:buChar char="•"/>
            </a:pPr>
            <a:endParaRPr lang="en-IN" sz="2000" b="1" u="sng" dirty="0">
              <a:solidFill>
                <a:schemeClr val="bg2">
                  <a:lumMod val="10000"/>
                </a:schemeClr>
              </a:solidFill>
              <a:latin typeface="Leelawadee" panose="020B0502040204020203" pitchFamily="34" charset="-34"/>
              <a:cs typeface="Leelawadee" panose="020B0502040204020203" pitchFamily="34" charset="-34"/>
            </a:endParaRPr>
          </a:p>
        </p:txBody>
      </p:sp>
    </p:spTree>
    <p:extLst>
      <p:ext uri="{BB962C8B-B14F-4D97-AF65-F5344CB8AC3E}">
        <p14:creationId xmlns:p14="http://schemas.microsoft.com/office/powerpoint/2010/main" val="2937095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a:xfrm>
            <a:off x="1001263" y="1592869"/>
            <a:ext cx="10834234" cy="2852737"/>
          </a:xfrm>
        </p:spPr>
        <p:txBody>
          <a:bodyPr>
            <a:normAutofit/>
          </a:bodyPr>
          <a:lstStyle/>
          <a:p>
            <a:br>
              <a:rPr lang="en-IN" dirty="0"/>
            </a:br>
            <a:r>
              <a:rPr lang="en-IN" dirty="0"/>
              <a:t>Questions ?</a:t>
            </a:r>
          </a:p>
        </p:txBody>
      </p:sp>
      <p:pic>
        <p:nvPicPr>
          <p:cNvPr id="6" name="Picture 5">
            <a:extLst>
              <a:ext uri="{FF2B5EF4-FFF2-40B4-BE49-F238E27FC236}">
                <a16:creationId xmlns:a16="http://schemas.microsoft.com/office/drawing/2014/main" id="{5C4BF627-2054-A6BF-FC8B-E2D0BDE3E6E3}"/>
              </a:ext>
            </a:extLst>
          </p:cNvPr>
          <p:cNvPicPr>
            <a:picLocks noChangeAspect="1"/>
          </p:cNvPicPr>
          <p:nvPr/>
        </p:nvPicPr>
        <p:blipFill>
          <a:blip r:embed="rId2"/>
          <a:stretch>
            <a:fillRect/>
          </a:stretch>
        </p:blipFill>
        <p:spPr>
          <a:xfrm>
            <a:off x="5392695" y="1233212"/>
            <a:ext cx="6246859" cy="3572053"/>
          </a:xfrm>
          <a:prstGeom prst="rect">
            <a:avLst/>
          </a:prstGeom>
        </p:spPr>
      </p:pic>
    </p:spTree>
    <p:extLst>
      <p:ext uri="{BB962C8B-B14F-4D97-AF65-F5344CB8AC3E}">
        <p14:creationId xmlns:p14="http://schemas.microsoft.com/office/powerpoint/2010/main" val="1173862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7263</TotalTime>
  <Words>770</Words>
  <Application>Microsoft Office PowerPoint</Application>
  <PresentationFormat>Widescreen</PresentationFormat>
  <Paragraphs>79</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Leelawadee</vt:lpstr>
      <vt:lpstr>Merriweather</vt:lpstr>
      <vt:lpstr>BIA Template</vt:lpstr>
      <vt:lpstr>PowerPoint Presentation</vt:lpstr>
      <vt:lpstr>OBJECTIVE</vt:lpstr>
      <vt:lpstr>DATASET OVERVIEW</vt:lpstr>
      <vt:lpstr>Labelling Criteria</vt:lpstr>
      <vt:lpstr>EDA (Exploratory Data Analysis)</vt:lpstr>
      <vt:lpstr>MODEL BUILDING AND SELECTION</vt:lpstr>
      <vt:lpstr>Other Metrics Evaluated:</vt:lpstr>
      <vt:lpstr>CONCLUSION</vt:lpstr>
      <vt:lpstr> 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Jigyashu Kumar</cp:lastModifiedBy>
  <cp:revision>2254</cp:revision>
  <dcterms:created xsi:type="dcterms:W3CDTF">2020-12-23T13:36:00Z</dcterms:created>
  <dcterms:modified xsi:type="dcterms:W3CDTF">2025-12-01T03:16:22Z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